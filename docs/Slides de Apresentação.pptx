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  <p:embeddedFont>
      <p:font typeface="Open Sans" charset="1" panose="020B0606030504020204"/>
      <p:regular r:id="rId27"/>
    </p:embeddedFont>
    <p:embeddedFont>
      <p:font typeface="Proxima Nova Bold" charset="1" panose="02000506030000020004"/>
      <p:regular r:id="rId28"/>
    </p:embeddedFont>
    <p:embeddedFont>
      <p:font typeface="Inter" charset="1" panose="02000503000000020004"/>
      <p:regular r:id="rId29"/>
    </p:embeddedFont>
    <p:embeddedFont>
      <p:font typeface="Inter Bold" charset="1" panose="02000503000000020004"/>
      <p:regular r:id="rId30"/>
    </p:embeddedFont>
    <p:embeddedFont>
      <p:font typeface="Open Sans Bold" charset="1" panose="020B0806030504020204"/>
      <p:regular r:id="rId31"/>
    </p:embeddedFont>
    <p:embeddedFont>
      <p:font typeface="Proxima Nova" charset="1" panose="020005060300000200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65328" y="130358"/>
            <a:ext cx="18816759" cy="1915253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59100" y="1028700"/>
            <a:ext cx="3022661" cy="2354902"/>
            <a:chOff x="0" y="0"/>
            <a:chExt cx="796092" cy="620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6092" cy="620221"/>
            </a:xfrm>
            <a:custGeom>
              <a:avLst/>
              <a:gdLst/>
              <a:ahLst/>
              <a:cxnLst/>
              <a:rect r="r" b="b" t="t" l="l"/>
              <a:pathLst>
                <a:path h="620221" w="796092">
                  <a:moveTo>
                    <a:pt x="130626" y="0"/>
                  </a:moveTo>
                  <a:lnTo>
                    <a:pt x="665466" y="0"/>
                  </a:lnTo>
                  <a:cubicBezTo>
                    <a:pt x="700110" y="0"/>
                    <a:pt x="733335" y="13762"/>
                    <a:pt x="757832" y="38259"/>
                  </a:cubicBezTo>
                  <a:cubicBezTo>
                    <a:pt x="782329" y="62757"/>
                    <a:pt x="796092" y="95982"/>
                    <a:pt x="796092" y="130626"/>
                  </a:cubicBezTo>
                  <a:lnTo>
                    <a:pt x="796092" y="489595"/>
                  </a:lnTo>
                  <a:cubicBezTo>
                    <a:pt x="796092" y="524239"/>
                    <a:pt x="782329" y="557464"/>
                    <a:pt x="757832" y="581962"/>
                  </a:cubicBezTo>
                  <a:cubicBezTo>
                    <a:pt x="733335" y="606459"/>
                    <a:pt x="700110" y="620221"/>
                    <a:pt x="665466" y="620221"/>
                  </a:cubicBezTo>
                  <a:lnTo>
                    <a:pt x="130626" y="620221"/>
                  </a:lnTo>
                  <a:cubicBezTo>
                    <a:pt x="95982" y="620221"/>
                    <a:pt x="62757" y="606459"/>
                    <a:pt x="38259" y="581962"/>
                  </a:cubicBezTo>
                  <a:cubicBezTo>
                    <a:pt x="13762" y="557464"/>
                    <a:pt x="0" y="524239"/>
                    <a:pt x="0" y="489595"/>
                  </a:cubicBezTo>
                  <a:lnTo>
                    <a:pt x="0" y="130626"/>
                  </a:lnTo>
                  <a:cubicBezTo>
                    <a:pt x="0" y="95982"/>
                    <a:pt x="13762" y="62757"/>
                    <a:pt x="38259" y="38259"/>
                  </a:cubicBezTo>
                  <a:cubicBezTo>
                    <a:pt x="62757" y="13762"/>
                    <a:pt x="95982" y="0"/>
                    <a:pt x="130626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96092" cy="658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1982680" y="8469131"/>
            <a:ext cx="18816759" cy="1915253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93761" y="6903398"/>
            <a:ext cx="3022661" cy="2354902"/>
            <a:chOff x="0" y="0"/>
            <a:chExt cx="796092" cy="6202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6092" cy="620221"/>
            </a:xfrm>
            <a:custGeom>
              <a:avLst/>
              <a:gdLst/>
              <a:ahLst/>
              <a:cxnLst/>
              <a:rect r="r" b="b" t="t" l="l"/>
              <a:pathLst>
                <a:path h="620221" w="796092">
                  <a:moveTo>
                    <a:pt x="130626" y="0"/>
                  </a:moveTo>
                  <a:lnTo>
                    <a:pt x="665466" y="0"/>
                  </a:lnTo>
                  <a:cubicBezTo>
                    <a:pt x="700110" y="0"/>
                    <a:pt x="733335" y="13762"/>
                    <a:pt x="757832" y="38259"/>
                  </a:cubicBezTo>
                  <a:cubicBezTo>
                    <a:pt x="782329" y="62757"/>
                    <a:pt x="796092" y="95982"/>
                    <a:pt x="796092" y="130626"/>
                  </a:cubicBezTo>
                  <a:lnTo>
                    <a:pt x="796092" y="489595"/>
                  </a:lnTo>
                  <a:cubicBezTo>
                    <a:pt x="796092" y="524239"/>
                    <a:pt x="782329" y="557464"/>
                    <a:pt x="757832" y="581962"/>
                  </a:cubicBezTo>
                  <a:cubicBezTo>
                    <a:pt x="733335" y="606459"/>
                    <a:pt x="700110" y="620221"/>
                    <a:pt x="665466" y="620221"/>
                  </a:cubicBezTo>
                  <a:lnTo>
                    <a:pt x="130626" y="620221"/>
                  </a:lnTo>
                  <a:cubicBezTo>
                    <a:pt x="95982" y="620221"/>
                    <a:pt x="62757" y="606459"/>
                    <a:pt x="38259" y="581962"/>
                  </a:cubicBezTo>
                  <a:cubicBezTo>
                    <a:pt x="13762" y="557464"/>
                    <a:pt x="0" y="524239"/>
                    <a:pt x="0" y="489595"/>
                  </a:cubicBezTo>
                  <a:lnTo>
                    <a:pt x="0" y="130626"/>
                  </a:lnTo>
                  <a:cubicBezTo>
                    <a:pt x="0" y="95982"/>
                    <a:pt x="13762" y="62757"/>
                    <a:pt x="38259" y="38259"/>
                  </a:cubicBezTo>
                  <a:cubicBezTo>
                    <a:pt x="62757" y="13762"/>
                    <a:pt x="95982" y="0"/>
                    <a:pt x="130626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96092" cy="658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694806" y="7693806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0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2836285" y="8006161"/>
            <a:ext cx="1915253" cy="2841194"/>
          </a:xfrm>
          <a:custGeom>
            <a:avLst/>
            <a:gdLst/>
            <a:ahLst/>
            <a:cxnLst/>
            <a:rect r="r" b="b" t="t" l="l"/>
            <a:pathLst>
              <a:path h="2841194" w="1915253">
                <a:moveTo>
                  <a:pt x="0" y="0"/>
                </a:moveTo>
                <a:lnTo>
                  <a:pt x="1915253" y="0"/>
                </a:lnTo>
                <a:lnTo>
                  <a:pt x="1915253" y="2841194"/>
                </a:lnTo>
                <a:lnTo>
                  <a:pt x="0" y="2841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-5088849" y="4371975"/>
            <a:ext cx="7417748" cy="3708874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303913" y="2901400"/>
            <a:ext cx="7417748" cy="3708874"/>
            <a:chOff x="0" y="0"/>
            <a:chExt cx="812800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957343" y="4152263"/>
            <a:ext cx="12373315" cy="1292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  <a:spcBef>
                <a:spcPct val="0"/>
              </a:spcBef>
            </a:pPr>
            <a:r>
              <a:rPr lang="en-US" b="true" sz="7599">
                <a:solidFill>
                  <a:srgbClr val="1322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Análise Textual por Época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7847467" y="130358"/>
            <a:ext cx="1960910" cy="1796684"/>
          </a:xfrm>
          <a:custGeom>
            <a:avLst/>
            <a:gdLst/>
            <a:ahLst/>
            <a:cxnLst/>
            <a:rect r="r" b="b" t="t" l="l"/>
            <a:pathLst>
              <a:path h="1796684" w="1960910">
                <a:moveTo>
                  <a:pt x="0" y="0"/>
                </a:moveTo>
                <a:lnTo>
                  <a:pt x="1960910" y="0"/>
                </a:lnTo>
                <a:lnTo>
                  <a:pt x="1960910" y="1796684"/>
                </a:lnTo>
                <a:lnTo>
                  <a:pt x="0" y="1796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>
            <a:off x="5725723" y="2225201"/>
            <a:ext cx="6204398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5341772" y="5981937"/>
            <a:ext cx="6972300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1322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Grupo 10 </a:t>
            </a:r>
            <a:r>
              <a:rPr lang="en-US" sz="2699">
                <a:solidFill>
                  <a:srgbClr val="132237"/>
                </a:solidFill>
                <a:latin typeface="Canva Sans"/>
                <a:ea typeface="Canva Sans"/>
                <a:cs typeface="Canva Sans"/>
                <a:sym typeface="Canva Sans"/>
              </a:rPr>
              <a:t>· Prof. John Lenon e Glauco Vitor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37047" y="6855773"/>
            <a:ext cx="638175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32237"/>
                </a:solidFill>
                <a:latin typeface="Canva Sans"/>
                <a:ea typeface="Canva Sans"/>
                <a:cs typeface="Canva Sans"/>
                <a:sym typeface="Canva Sans"/>
              </a:rPr>
              <a:t>EDA2 — 2026.1 · UnB Campus Gama (FCTE)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32237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79260" y="-97385"/>
            <a:ext cx="17410784" cy="1772147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2125273" y="7149397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3"/>
                </a:lnTo>
                <a:lnTo>
                  <a:pt x="0" y="5195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604808" y="-2597501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2"/>
                </a:lnTo>
                <a:lnTo>
                  <a:pt x="0" y="519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377324" y="3894031"/>
            <a:ext cx="4990042" cy="4717858"/>
          </a:xfrm>
          <a:custGeom>
            <a:avLst/>
            <a:gdLst/>
            <a:ahLst/>
            <a:cxnLst/>
            <a:rect r="r" b="b" t="t" l="l"/>
            <a:pathLst>
              <a:path h="4717858" w="4990042">
                <a:moveTo>
                  <a:pt x="0" y="0"/>
                </a:moveTo>
                <a:lnTo>
                  <a:pt x="4990042" y="0"/>
                </a:lnTo>
                <a:lnTo>
                  <a:pt x="4990042" y="4717859"/>
                </a:lnTo>
                <a:lnTo>
                  <a:pt x="0" y="4717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59612" y="1777088"/>
            <a:ext cx="7743825" cy="99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Descrição do Problema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4667" y="3995022"/>
            <a:ext cx="9564709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Este projeto tem como objetivo analisar comparativamente textos de diferentes épocas, identificando as transformações ocorridas em seu conteúdo e formato com o decorrer do tempo.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79260" y="-97385"/>
            <a:ext cx="17410784" cy="1772147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88689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2125273" y="7149397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3"/>
                </a:lnTo>
                <a:lnTo>
                  <a:pt x="0" y="5195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604808" y="-2597501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2"/>
                </a:lnTo>
                <a:lnTo>
                  <a:pt x="0" y="519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063444" y="2304278"/>
            <a:ext cx="10028223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Vértices: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Palavras nos textos.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Arestas: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Coocorrência de palavras no mesmo texto.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Peso: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Quantidade de textos onde há coocorência.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Os grafos foram desenvolvidos em formato de </a:t>
            </a:r>
            <a:r>
              <a:rPr lang="en-US" sz="3399" b="true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Listas de Adjacência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(dicionários de dicionários).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Facilidade na leitura dos dados;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Melhor aplicação para os algoritmos selecionados (busca de vizinhos).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1454165">
            <a:off x="12793768" y="2159525"/>
            <a:ext cx="4245264" cy="4053789"/>
          </a:xfrm>
          <a:custGeom>
            <a:avLst/>
            <a:gdLst/>
            <a:ahLst/>
            <a:cxnLst/>
            <a:rect r="r" b="b" t="t" l="l"/>
            <a:pathLst>
              <a:path h="4053789" w="4245264">
                <a:moveTo>
                  <a:pt x="0" y="0"/>
                </a:moveTo>
                <a:lnTo>
                  <a:pt x="4245264" y="0"/>
                </a:lnTo>
                <a:lnTo>
                  <a:pt x="4245264" y="4053789"/>
                </a:lnTo>
                <a:lnTo>
                  <a:pt x="0" y="4053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862345" y="1130896"/>
            <a:ext cx="5978525" cy="863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Modelagem do grafo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79260" y="-97385"/>
            <a:ext cx="17410784" cy="1772147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88689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2125273" y="7149397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3"/>
                </a:lnTo>
                <a:lnTo>
                  <a:pt x="0" y="5195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02491" y="1140421"/>
            <a:ext cx="6228308" cy="87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 b="true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Descrição da solução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604808" y="-2597501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2"/>
                </a:lnTo>
                <a:lnTo>
                  <a:pt x="0" y="519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802491" y="2708860"/>
            <a:ext cx="13802317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Como nosso objetivo é comparar escritas de diferentes épocas, o ideal é a utilização de grafos.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Para solucionar esse problema, utilizou-se a biblioteca spaCy na filtragem dos dados, além de algoritmos de exibição em árvore para otimizar a análise.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02491" y="6070046"/>
            <a:ext cx="13802317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Tema Escolhido: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Economia;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Tipo de Dados: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Fictícios;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Algoritmos aplicados: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BFS e Kruskal;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Tratamento de Dados: 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spaCy.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1979260" y="-97385"/>
            <a:ext cx="17410784" cy="1772147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8076" y="7181308"/>
            <a:ext cx="2093552" cy="3105692"/>
          </a:xfrm>
          <a:custGeom>
            <a:avLst/>
            <a:gdLst/>
            <a:ahLst/>
            <a:cxnLst/>
            <a:rect r="r" b="b" t="t" l="l"/>
            <a:pathLst>
              <a:path h="3105692" w="2093552">
                <a:moveTo>
                  <a:pt x="0" y="0"/>
                </a:moveTo>
                <a:lnTo>
                  <a:pt x="2093552" y="0"/>
                </a:lnTo>
                <a:lnTo>
                  <a:pt x="2093552" y="3105692"/>
                </a:lnTo>
                <a:lnTo>
                  <a:pt x="0" y="3105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194448" y="0"/>
            <a:ext cx="2093552" cy="3105692"/>
          </a:xfrm>
          <a:custGeom>
            <a:avLst/>
            <a:gdLst/>
            <a:ahLst/>
            <a:cxnLst/>
            <a:rect r="r" b="b" t="t" l="l"/>
            <a:pathLst>
              <a:path h="3105692" w="2093552">
                <a:moveTo>
                  <a:pt x="0" y="3105692"/>
                </a:moveTo>
                <a:lnTo>
                  <a:pt x="2093552" y="3105692"/>
                </a:lnTo>
                <a:lnTo>
                  <a:pt x="2093552" y="0"/>
                </a:lnTo>
                <a:lnTo>
                  <a:pt x="0" y="0"/>
                </a:lnTo>
                <a:lnTo>
                  <a:pt x="0" y="31056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99931" y="1190575"/>
            <a:ext cx="444373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Implementação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99931" y="2304278"/>
            <a:ext cx="9564709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Plataforma de Desenvolvimento: 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Modulos Utilizados: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spaCy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Pipeline: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pt_core_news_sm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99931" y="4294368"/>
            <a:ext cx="64389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Arquivos do Programa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90232" y="5438616"/>
            <a:ext cx="15307535" cy="3348696"/>
            <a:chOff x="0" y="0"/>
            <a:chExt cx="20410047" cy="446492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4713761" cy="4464928"/>
              <a:chOff x="0" y="0"/>
              <a:chExt cx="931113" cy="88196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31113" cy="881961"/>
              </a:xfrm>
              <a:custGeom>
                <a:avLst/>
                <a:gdLst/>
                <a:ahLst/>
                <a:cxnLst/>
                <a:rect r="r" b="b" t="t" l="l"/>
                <a:pathLst>
                  <a:path h="881961" w="931113">
                    <a:moveTo>
                      <a:pt x="153291" y="0"/>
                    </a:moveTo>
                    <a:lnTo>
                      <a:pt x="777822" y="0"/>
                    </a:lnTo>
                    <a:cubicBezTo>
                      <a:pt x="862482" y="0"/>
                      <a:pt x="931113" y="68631"/>
                      <a:pt x="931113" y="153291"/>
                    </a:cubicBezTo>
                    <a:lnTo>
                      <a:pt x="931113" y="728670"/>
                    </a:lnTo>
                    <a:cubicBezTo>
                      <a:pt x="931113" y="769325"/>
                      <a:pt x="914963" y="808315"/>
                      <a:pt x="886215" y="837063"/>
                    </a:cubicBezTo>
                    <a:cubicBezTo>
                      <a:pt x="857468" y="865811"/>
                      <a:pt x="818477" y="881961"/>
                      <a:pt x="777822" y="881961"/>
                    </a:cubicBezTo>
                    <a:lnTo>
                      <a:pt x="153291" y="881961"/>
                    </a:lnTo>
                    <a:cubicBezTo>
                      <a:pt x="112636" y="881961"/>
                      <a:pt x="73646" y="865811"/>
                      <a:pt x="44898" y="837063"/>
                    </a:cubicBezTo>
                    <a:cubicBezTo>
                      <a:pt x="16150" y="808315"/>
                      <a:pt x="0" y="769325"/>
                      <a:pt x="0" y="728670"/>
                    </a:cubicBezTo>
                    <a:lnTo>
                      <a:pt x="0" y="153291"/>
                    </a:lnTo>
                    <a:cubicBezTo>
                      <a:pt x="0" y="112636"/>
                      <a:pt x="16150" y="73646"/>
                      <a:pt x="44898" y="44898"/>
                    </a:cubicBezTo>
                    <a:cubicBezTo>
                      <a:pt x="73646" y="16150"/>
                      <a:pt x="112636" y="0"/>
                      <a:pt x="153291" y="0"/>
                    </a:cubicBezTo>
                    <a:close/>
                  </a:path>
                </a:pathLst>
              </a:custGeom>
              <a:ln w="57150" cap="rnd">
                <a:solidFill>
                  <a:srgbClr val="132237"/>
                </a:solidFill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931113" cy="9295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  <a:r>
                  <a:rPr lang="en-US" sz="2999" b="true">
                    <a:solidFill>
                      <a:srgbClr val="42597A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main.py</a:t>
                </a:r>
              </a:p>
              <a:p>
                <a:pPr algn="ctr">
                  <a:lnSpc>
                    <a:spcPts val="4199"/>
                  </a:lnSpc>
                  <a:spcBef>
                    <a:spcPct val="0"/>
                  </a:spcBef>
                </a:pPr>
                <a:r>
                  <a:rPr lang="en-US" sz="2999">
                    <a:solidFill>
                      <a:srgbClr val="42597A"/>
                    </a:solidFill>
                    <a:latin typeface="Inter"/>
                    <a:ea typeface="Inter"/>
                    <a:cs typeface="Inter"/>
                    <a:sym typeface="Inter"/>
                  </a:rPr>
                  <a:t>Carrega os dados e chama as funções dos outros arquivos.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5230912" y="0"/>
              <a:ext cx="4713761" cy="4464928"/>
              <a:chOff x="0" y="0"/>
              <a:chExt cx="931113" cy="88196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31113" cy="881961"/>
              </a:xfrm>
              <a:custGeom>
                <a:avLst/>
                <a:gdLst/>
                <a:ahLst/>
                <a:cxnLst/>
                <a:rect r="r" b="b" t="t" l="l"/>
                <a:pathLst>
                  <a:path h="881961" w="931113">
                    <a:moveTo>
                      <a:pt x="153291" y="0"/>
                    </a:moveTo>
                    <a:lnTo>
                      <a:pt x="777822" y="0"/>
                    </a:lnTo>
                    <a:cubicBezTo>
                      <a:pt x="862482" y="0"/>
                      <a:pt x="931113" y="68631"/>
                      <a:pt x="931113" y="153291"/>
                    </a:cubicBezTo>
                    <a:lnTo>
                      <a:pt x="931113" y="728670"/>
                    </a:lnTo>
                    <a:cubicBezTo>
                      <a:pt x="931113" y="769325"/>
                      <a:pt x="914963" y="808315"/>
                      <a:pt x="886215" y="837063"/>
                    </a:cubicBezTo>
                    <a:cubicBezTo>
                      <a:pt x="857468" y="865811"/>
                      <a:pt x="818477" y="881961"/>
                      <a:pt x="777822" y="881961"/>
                    </a:cubicBezTo>
                    <a:lnTo>
                      <a:pt x="153291" y="881961"/>
                    </a:lnTo>
                    <a:cubicBezTo>
                      <a:pt x="112636" y="881961"/>
                      <a:pt x="73646" y="865811"/>
                      <a:pt x="44898" y="837063"/>
                    </a:cubicBezTo>
                    <a:cubicBezTo>
                      <a:pt x="16150" y="808315"/>
                      <a:pt x="0" y="769325"/>
                      <a:pt x="0" y="728670"/>
                    </a:cubicBezTo>
                    <a:lnTo>
                      <a:pt x="0" y="153291"/>
                    </a:lnTo>
                    <a:cubicBezTo>
                      <a:pt x="0" y="112636"/>
                      <a:pt x="16150" y="73646"/>
                      <a:pt x="44898" y="44898"/>
                    </a:cubicBezTo>
                    <a:cubicBezTo>
                      <a:pt x="73646" y="16150"/>
                      <a:pt x="112636" y="0"/>
                      <a:pt x="153291" y="0"/>
                    </a:cubicBezTo>
                    <a:close/>
                  </a:path>
                </a:pathLst>
              </a:custGeom>
              <a:ln w="57150" cap="rnd">
                <a:solidFill>
                  <a:srgbClr val="132237"/>
                </a:solidFill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931113" cy="9295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  <a:r>
                  <a:rPr lang="en-US" sz="2999" b="true">
                    <a:solidFill>
                      <a:srgbClr val="42597A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grafos.py</a:t>
                </a:r>
              </a:p>
              <a:p>
                <a:pPr algn="ctr">
                  <a:lnSpc>
                    <a:spcPts val="4199"/>
                  </a:lnSpc>
                  <a:spcBef>
                    <a:spcPct val="0"/>
                  </a:spcBef>
                </a:pPr>
                <a:r>
                  <a:rPr lang="en-US" sz="2999">
                    <a:solidFill>
                      <a:srgbClr val="42597A"/>
                    </a:solidFill>
                    <a:latin typeface="Inter"/>
                    <a:ea typeface="Inter"/>
                    <a:cs typeface="Inter"/>
                    <a:sym typeface="Inter"/>
                  </a:rPr>
                  <a:t>Gera as principais estruturas de dados, como grafos e listas.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0465373" y="0"/>
              <a:ext cx="4713761" cy="4464928"/>
              <a:chOff x="0" y="0"/>
              <a:chExt cx="931113" cy="88196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31113" cy="881961"/>
              </a:xfrm>
              <a:custGeom>
                <a:avLst/>
                <a:gdLst/>
                <a:ahLst/>
                <a:cxnLst/>
                <a:rect r="r" b="b" t="t" l="l"/>
                <a:pathLst>
                  <a:path h="881961" w="931113">
                    <a:moveTo>
                      <a:pt x="153291" y="0"/>
                    </a:moveTo>
                    <a:lnTo>
                      <a:pt x="777822" y="0"/>
                    </a:lnTo>
                    <a:cubicBezTo>
                      <a:pt x="862482" y="0"/>
                      <a:pt x="931113" y="68631"/>
                      <a:pt x="931113" y="153291"/>
                    </a:cubicBezTo>
                    <a:lnTo>
                      <a:pt x="931113" y="728670"/>
                    </a:lnTo>
                    <a:cubicBezTo>
                      <a:pt x="931113" y="769325"/>
                      <a:pt x="914963" y="808315"/>
                      <a:pt x="886215" y="837063"/>
                    </a:cubicBezTo>
                    <a:cubicBezTo>
                      <a:pt x="857468" y="865811"/>
                      <a:pt x="818477" y="881961"/>
                      <a:pt x="777822" y="881961"/>
                    </a:cubicBezTo>
                    <a:lnTo>
                      <a:pt x="153291" y="881961"/>
                    </a:lnTo>
                    <a:cubicBezTo>
                      <a:pt x="112636" y="881961"/>
                      <a:pt x="73646" y="865811"/>
                      <a:pt x="44898" y="837063"/>
                    </a:cubicBezTo>
                    <a:cubicBezTo>
                      <a:pt x="16150" y="808315"/>
                      <a:pt x="0" y="769325"/>
                      <a:pt x="0" y="728670"/>
                    </a:cubicBezTo>
                    <a:lnTo>
                      <a:pt x="0" y="153291"/>
                    </a:lnTo>
                    <a:cubicBezTo>
                      <a:pt x="0" y="112636"/>
                      <a:pt x="16150" y="73646"/>
                      <a:pt x="44898" y="44898"/>
                    </a:cubicBezTo>
                    <a:cubicBezTo>
                      <a:pt x="73646" y="16150"/>
                      <a:pt x="112636" y="0"/>
                      <a:pt x="153291" y="0"/>
                    </a:cubicBezTo>
                    <a:close/>
                  </a:path>
                </a:pathLst>
              </a:custGeom>
              <a:ln w="57150" cap="rnd">
                <a:solidFill>
                  <a:srgbClr val="132237"/>
                </a:solidFill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931113" cy="9295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  <a:r>
                  <a:rPr lang="en-US" sz="2999" b="true">
                    <a:solidFill>
                      <a:srgbClr val="42597A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algoritmos.py</a:t>
                </a:r>
              </a:p>
              <a:p>
                <a:pPr algn="ctr">
                  <a:lnSpc>
                    <a:spcPts val="4199"/>
                  </a:lnSpc>
                  <a:spcBef>
                    <a:spcPct val="0"/>
                  </a:spcBef>
                </a:pPr>
                <a:r>
                  <a:rPr lang="en-US" sz="2999">
                    <a:solidFill>
                      <a:srgbClr val="42597A"/>
                    </a:solidFill>
                    <a:latin typeface="Inter"/>
                    <a:ea typeface="Inter"/>
                    <a:cs typeface="Inter"/>
                    <a:sym typeface="Inter"/>
                  </a:rPr>
                  <a:t>Possui todas funções relacionadas aos algoritmos.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5696286" y="0"/>
              <a:ext cx="4713761" cy="4464928"/>
              <a:chOff x="0" y="0"/>
              <a:chExt cx="931113" cy="881961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31113" cy="881961"/>
              </a:xfrm>
              <a:custGeom>
                <a:avLst/>
                <a:gdLst/>
                <a:ahLst/>
                <a:cxnLst/>
                <a:rect r="r" b="b" t="t" l="l"/>
                <a:pathLst>
                  <a:path h="881961" w="931113">
                    <a:moveTo>
                      <a:pt x="153291" y="0"/>
                    </a:moveTo>
                    <a:lnTo>
                      <a:pt x="777822" y="0"/>
                    </a:lnTo>
                    <a:cubicBezTo>
                      <a:pt x="862482" y="0"/>
                      <a:pt x="931113" y="68631"/>
                      <a:pt x="931113" y="153291"/>
                    </a:cubicBezTo>
                    <a:lnTo>
                      <a:pt x="931113" y="728670"/>
                    </a:lnTo>
                    <a:cubicBezTo>
                      <a:pt x="931113" y="769325"/>
                      <a:pt x="914963" y="808315"/>
                      <a:pt x="886215" y="837063"/>
                    </a:cubicBezTo>
                    <a:cubicBezTo>
                      <a:pt x="857468" y="865811"/>
                      <a:pt x="818477" y="881961"/>
                      <a:pt x="777822" y="881961"/>
                    </a:cubicBezTo>
                    <a:lnTo>
                      <a:pt x="153291" y="881961"/>
                    </a:lnTo>
                    <a:cubicBezTo>
                      <a:pt x="112636" y="881961"/>
                      <a:pt x="73646" y="865811"/>
                      <a:pt x="44898" y="837063"/>
                    </a:cubicBezTo>
                    <a:cubicBezTo>
                      <a:pt x="16150" y="808315"/>
                      <a:pt x="0" y="769325"/>
                      <a:pt x="0" y="728670"/>
                    </a:cubicBezTo>
                    <a:lnTo>
                      <a:pt x="0" y="153291"/>
                    </a:lnTo>
                    <a:cubicBezTo>
                      <a:pt x="0" y="112636"/>
                      <a:pt x="16150" y="73646"/>
                      <a:pt x="44898" y="44898"/>
                    </a:cubicBezTo>
                    <a:cubicBezTo>
                      <a:pt x="73646" y="16150"/>
                      <a:pt x="112636" y="0"/>
                      <a:pt x="153291" y="0"/>
                    </a:cubicBezTo>
                    <a:close/>
                  </a:path>
                </a:pathLst>
              </a:custGeom>
              <a:ln w="57150" cap="rnd">
                <a:solidFill>
                  <a:srgbClr val="132237"/>
                </a:solidFill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931113" cy="9295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  <a:r>
                  <a:rPr lang="en-US" sz="2999" b="true">
                    <a:solidFill>
                      <a:srgbClr val="42597A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processamento_de_dados.py</a:t>
                </a:r>
              </a:p>
              <a:p>
                <a:pPr algn="ctr">
                  <a:lnSpc>
                    <a:spcPts val="4199"/>
                  </a:lnSpc>
                  <a:spcBef>
                    <a:spcPct val="0"/>
                  </a:spcBef>
                </a:pPr>
                <a:r>
                  <a:rPr lang="en-US" sz="2999">
                    <a:solidFill>
                      <a:srgbClr val="42597A"/>
                    </a:solidFill>
                    <a:latin typeface="Inter"/>
                    <a:ea typeface="Inter"/>
                    <a:cs typeface="Inter"/>
                    <a:sym typeface="Inter"/>
                  </a:rPr>
                  <a:t>Aplica o filtro do spaCy e salva dados.</a:t>
                </a:r>
              </a:p>
            </p:txBody>
          </p:sp>
        </p:grpSp>
      </p:grpSp>
      <p:sp>
        <p:nvSpPr>
          <p:cNvPr name="TextBox 35" id="3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1979260" y="-97385"/>
            <a:ext cx="17410784" cy="1772147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8076" y="7181308"/>
            <a:ext cx="2093552" cy="3105692"/>
          </a:xfrm>
          <a:custGeom>
            <a:avLst/>
            <a:gdLst/>
            <a:ahLst/>
            <a:cxnLst/>
            <a:rect r="r" b="b" t="t" l="l"/>
            <a:pathLst>
              <a:path h="3105692" w="2093552">
                <a:moveTo>
                  <a:pt x="0" y="0"/>
                </a:moveTo>
                <a:lnTo>
                  <a:pt x="2093552" y="0"/>
                </a:lnTo>
                <a:lnTo>
                  <a:pt x="2093552" y="3105692"/>
                </a:lnTo>
                <a:lnTo>
                  <a:pt x="0" y="3105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194448" y="0"/>
            <a:ext cx="2093552" cy="3105692"/>
          </a:xfrm>
          <a:custGeom>
            <a:avLst/>
            <a:gdLst/>
            <a:ahLst/>
            <a:cxnLst/>
            <a:rect r="r" b="b" t="t" l="l"/>
            <a:pathLst>
              <a:path h="3105692" w="2093552">
                <a:moveTo>
                  <a:pt x="0" y="3105692"/>
                </a:moveTo>
                <a:lnTo>
                  <a:pt x="2093552" y="3105692"/>
                </a:lnTo>
                <a:lnTo>
                  <a:pt x="2093552" y="0"/>
                </a:lnTo>
                <a:lnTo>
                  <a:pt x="0" y="0"/>
                </a:lnTo>
                <a:lnTo>
                  <a:pt x="0" y="31056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08341" y="5438616"/>
            <a:ext cx="4638773" cy="3348696"/>
            <a:chOff x="0" y="0"/>
            <a:chExt cx="1221735" cy="8819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21735" cy="881961"/>
            </a:xfrm>
            <a:custGeom>
              <a:avLst/>
              <a:gdLst/>
              <a:ahLst/>
              <a:cxnLst/>
              <a:rect r="r" b="b" t="t" l="l"/>
              <a:pathLst>
                <a:path h="881961" w="1221735">
                  <a:moveTo>
                    <a:pt x="116827" y="0"/>
                  </a:moveTo>
                  <a:lnTo>
                    <a:pt x="1104907" y="0"/>
                  </a:lnTo>
                  <a:cubicBezTo>
                    <a:pt x="1169429" y="0"/>
                    <a:pt x="1221735" y="52305"/>
                    <a:pt x="1221735" y="116827"/>
                  </a:cubicBezTo>
                  <a:lnTo>
                    <a:pt x="1221735" y="765134"/>
                  </a:lnTo>
                  <a:cubicBezTo>
                    <a:pt x="1221735" y="796118"/>
                    <a:pt x="1209426" y="825834"/>
                    <a:pt x="1187517" y="847743"/>
                  </a:cubicBezTo>
                  <a:cubicBezTo>
                    <a:pt x="1165607" y="869652"/>
                    <a:pt x="1135892" y="881961"/>
                    <a:pt x="1104907" y="881961"/>
                  </a:cubicBezTo>
                  <a:lnTo>
                    <a:pt x="116827" y="881961"/>
                  </a:lnTo>
                  <a:cubicBezTo>
                    <a:pt x="52305" y="881961"/>
                    <a:pt x="0" y="829656"/>
                    <a:pt x="0" y="765134"/>
                  </a:cubicBezTo>
                  <a:lnTo>
                    <a:pt x="0" y="116827"/>
                  </a:lnTo>
                  <a:cubicBezTo>
                    <a:pt x="0" y="52305"/>
                    <a:pt x="52305" y="0"/>
                    <a:pt x="116827" y="0"/>
                  </a:cubicBezTo>
                  <a:close/>
                </a:path>
              </a:pathLst>
            </a:custGeom>
            <a:ln w="57150" cap="rnd">
              <a:solidFill>
                <a:srgbClr val="132237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21735" cy="929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42597A"/>
                  </a:solidFill>
                  <a:latin typeface="Inter"/>
                  <a:ea typeface="Inter"/>
                  <a:cs typeface="Inter"/>
                  <a:sym typeface="Inter"/>
                </a:rPr>
                <a:t>Entrada de dados e tratamento utilizando a biblioteca spaCy; Gera uma lista de ocorrência.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23389" y="5438616"/>
            <a:ext cx="4641222" cy="3287950"/>
            <a:chOff x="0" y="0"/>
            <a:chExt cx="1222379" cy="8659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22379" cy="865962"/>
            </a:xfrm>
            <a:custGeom>
              <a:avLst/>
              <a:gdLst/>
              <a:ahLst/>
              <a:cxnLst/>
              <a:rect r="r" b="b" t="t" l="l"/>
              <a:pathLst>
                <a:path h="865962" w="1222379">
                  <a:moveTo>
                    <a:pt x="116765" y="0"/>
                  </a:moveTo>
                  <a:lnTo>
                    <a:pt x="1105614" y="0"/>
                  </a:lnTo>
                  <a:cubicBezTo>
                    <a:pt x="1170102" y="0"/>
                    <a:pt x="1222379" y="52278"/>
                    <a:pt x="1222379" y="116765"/>
                  </a:cubicBezTo>
                  <a:lnTo>
                    <a:pt x="1222379" y="749197"/>
                  </a:lnTo>
                  <a:cubicBezTo>
                    <a:pt x="1222379" y="780165"/>
                    <a:pt x="1210077" y="809865"/>
                    <a:pt x="1188180" y="831762"/>
                  </a:cubicBezTo>
                  <a:cubicBezTo>
                    <a:pt x="1166282" y="853660"/>
                    <a:pt x="1136582" y="865962"/>
                    <a:pt x="1105614" y="865962"/>
                  </a:cubicBezTo>
                  <a:lnTo>
                    <a:pt x="116765" y="865962"/>
                  </a:lnTo>
                  <a:cubicBezTo>
                    <a:pt x="52278" y="865962"/>
                    <a:pt x="0" y="813684"/>
                    <a:pt x="0" y="749197"/>
                  </a:cubicBezTo>
                  <a:lnTo>
                    <a:pt x="0" y="116765"/>
                  </a:lnTo>
                  <a:cubicBezTo>
                    <a:pt x="0" y="52278"/>
                    <a:pt x="52278" y="0"/>
                    <a:pt x="116765" y="0"/>
                  </a:cubicBezTo>
                  <a:close/>
                </a:path>
              </a:pathLst>
            </a:custGeom>
            <a:ln w="57150" cap="rnd">
              <a:solidFill>
                <a:srgbClr val="132237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222379" cy="91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42597A"/>
                  </a:solidFill>
                  <a:latin typeface="Inter"/>
                  <a:ea typeface="Inter"/>
                  <a:cs typeface="Inter"/>
                  <a:sym typeface="Inter"/>
                </a:rPr>
                <a:t>Gera os grafos com base na lista de ocorrência.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38437" y="5528328"/>
            <a:ext cx="4641222" cy="3137492"/>
            <a:chOff x="0" y="0"/>
            <a:chExt cx="1222379" cy="8263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22379" cy="826335"/>
            </a:xfrm>
            <a:custGeom>
              <a:avLst/>
              <a:gdLst/>
              <a:ahLst/>
              <a:cxnLst/>
              <a:rect r="r" b="b" t="t" l="l"/>
              <a:pathLst>
                <a:path h="826335" w="1222379">
                  <a:moveTo>
                    <a:pt x="116765" y="0"/>
                  </a:moveTo>
                  <a:lnTo>
                    <a:pt x="1105614" y="0"/>
                  </a:lnTo>
                  <a:cubicBezTo>
                    <a:pt x="1170102" y="0"/>
                    <a:pt x="1222379" y="52278"/>
                    <a:pt x="1222379" y="116765"/>
                  </a:cubicBezTo>
                  <a:lnTo>
                    <a:pt x="1222379" y="709570"/>
                  </a:lnTo>
                  <a:cubicBezTo>
                    <a:pt x="1222379" y="740538"/>
                    <a:pt x="1210077" y="770238"/>
                    <a:pt x="1188180" y="792136"/>
                  </a:cubicBezTo>
                  <a:cubicBezTo>
                    <a:pt x="1166282" y="814033"/>
                    <a:pt x="1136582" y="826335"/>
                    <a:pt x="1105614" y="826335"/>
                  </a:cubicBezTo>
                  <a:lnTo>
                    <a:pt x="116765" y="826335"/>
                  </a:lnTo>
                  <a:cubicBezTo>
                    <a:pt x="52278" y="826335"/>
                    <a:pt x="0" y="774058"/>
                    <a:pt x="0" y="709570"/>
                  </a:cubicBezTo>
                  <a:lnTo>
                    <a:pt x="0" y="116765"/>
                  </a:lnTo>
                  <a:cubicBezTo>
                    <a:pt x="0" y="52278"/>
                    <a:pt x="52278" y="0"/>
                    <a:pt x="116765" y="0"/>
                  </a:cubicBezTo>
                  <a:close/>
                </a:path>
              </a:pathLst>
            </a:custGeom>
            <a:ln w="57150" cap="rnd">
              <a:solidFill>
                <a:srgbClr val="132237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222379" cy="873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42597A"/>
                  </a:solidFill>
                  <a:latin typeface="Inter"/>
                  <a:ea typeface="Inter"/>
                  <a:cs typeface="Inter"/>
                  <a:sym typeface="Inter"/>
                </a:rPr>
                <a:t>Aplica os algoritmos selecionados e salva os resultados obtidos.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147114" y="6756804"/>
            <a:ext cx="712318" cy="71231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42597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599931" y="1190575"/>
            <a:ext cx="444373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Implementação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99931" y="2304278"/>
            <a:ext cx="9564709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Plataforma de Desenvolvimento: 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Modulos Utilizados: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spaCy</a:t>
            </a:r>
          </a:p>
          <a:p>
            <a:pPr algn="l" marL="1468116" indent="-489372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Pipeline: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pt_core_news_sm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99931" y="4294368"/>
            <a:ext cx="543877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Fluxo do Programa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464611" y="6756804"/>
            <a:ext cx="712318" cy="712318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42597A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79260" y="-97385"/>
            <a:ext cx="17410784" cy="1772147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88689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2125273" y="7149397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3"/>
                </a:lnTo>
                <a:lnTo>
                  <a:pt x="0" y="5195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02491" y="1140421"/>
            <a:ext cx="5229225" cy="87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5100" b="true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Entrada de Dados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604808" y="-2597501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2"/>
                </a:lnTo>
                <a:lnTo>
                  <a:pt x="0" y="519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802491" y="2281252"/>
            <a:ext cx="1405650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Os dados utilizados devem estar armazenados na pasta </a:t>
            </a:r>
            <a:r>
              <a:rPr lang="en-US" sz="3399" b="true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data/texts/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em em formato </a:t>
            </a:r>
            <a:r>
              <a:rPr lang="en-US" sz="3399" b="true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txt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em relação ao arquivo </a:t>
            </a:r>
            <a:r>
              <a:rPr lang="en-US" sz="3399" b="true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main.py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, cada dentro de sua respectiva pasta.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02491" y="4388016"/>
            <a:ext cx="7058940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src/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├── main.py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          └── </a:t>
            </a:r>
            <a:r>
              <a:rPr lang="en-US" sz="2800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data/</a:t>
            </a:r>
            <a:r>
              <a:rPr lang="en-US" sz="2800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                     └── </a:t>
            </a:r>
            <a:r>
              <a:rPr lang="en-US" sz="2800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text/</a:t>
            </a:r>
            <a:r>
              <a:rPr lang="en-US" sz="2800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                                ├── epoca1/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                                │        └── texto1.txt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                                ├── epoca2/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                                │        └── ...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26858" y="4431049"/>
            <a:ext cx="5777950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Em nosso testes, tinhamos vinte textos pequenos das seguintes épocas: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2020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2010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2000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1990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-1564494" y="3846903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259300" y="3846903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79260" y="-97385"/>
            <a:ext cx="17410784" cy="1772147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88689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1334564">
            <a:off x="-2125273" y="7149397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3"/>
                </a:lnTo>
                <a:lnTo>
                  <a:pt x="0" y="5195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604808" y="-2597501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2"/>
                </a:lnTo>
                <a:lnTo>
                  <a:pt x="0" y="519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8605405" y="2597501"/>
          <a:ext cx="8212323" cy="5181600"/>
        </p:xfrm>
        <a:graphic>
          <a:graphicData uri="http://schemas.openxmlformats.org/drawingml/2006/table">
            <a:tbl>
              <a:tblPr/>
              <a:tblGrid>
                <a:gridCol w="1642465"/>
                <a:gridCol w="1642465"/>
                <a:gridCol w="1642465"/>
                <a:gridCol w="1642465"/>
                <a:gridCol w="1642465"/>
              </a:tblGrid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Época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b="true" sz="3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2020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b="true" sz="3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2010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b="true" sz="3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b="true" sz="3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1990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b="true" sz="3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2020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527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AE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b="true" sz="3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2010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487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AE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175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b="true" sz="3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449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AE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168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b="true" sz="3099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1990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175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168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542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AEB8"/>
                    </a:solidFill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802491" y="1140421"/>
            <a:ext cx="6626721" cy="87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 b="true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Análise dos resultados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02491" y="2530826"/>
            <a:ext cx="6356193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Número de Vértices: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2020: 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527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2010: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487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2000: 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449</a:t>
            </a:r>
          </a:p>
          <a:p>
            <a:pPr algn="l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1990:</a:t>
            </a: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 542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Os dados geralmente apresentam uma ligação um pouco mais forte com épocas adjacentes.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47463" y="7864192"/>
            <a:ext cx="572820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Tabela de Coocorrência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-1564494" y="3846903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259300" y="3846903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79260" y="-97385"/>
            <a:ext cx="17410784" cy="1772147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262223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699722" y="1347429"/>
            <a:ext cx="673134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Aplicação do Bfs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2125273" y="7149397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3"/>
                </a:lnTo>
                <a:lnTo>
                  <a:pt x="0" y="5195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604808" y="-2597501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2"/>
                </a:lnTo>
                <a:lnTo>
                  <a:pt x="0" y="519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255777" y="2993309"/>
            <a:ext cx="13619238" cy="5618581"/>
            <a:chOff x="0" y="0"/>
            <a:chExt cx="3586960" cy="14797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86960" cy="1479791"/>
            </a:xfrm>
            <a:custGeom>
              <a:avLst/>
              <a:gdLst/>
              <a:ahLst/>
              <a:cxnLst/>
              <a:rect r="r" b="b" t="t" l="l"/>
              <a:pathLst>
                <a:path h="1479791" w="3586960">
                  <a:moveTo>
                    <a:pt x="28991" y="0"/>
                  </a:moveTo>
                  <a:lnTo>
                    <a:pt x="3557968" y="0"/>
                  </a:lnTo>
                  <a:cubicBezTo>
                    <a:pt x="3573980" y="0"/>
                    <a:pt x="3586960" y="12980"/>
                    <a:pt x="3586960" y="28991"/>
                  </a:cubicBezTo>
                  <a:lnTo>
                    <a:pt x="3586960" y="1450800"/>
                  </a:lnTo>
                  <a:cubicBezTo>
                    <a:pt x="3586960" y="1466811"/>
                    <a:pt x="3573980" y="1479791"/>
                    <a:pt x="3557968" y="1479791"/>
                  </a:cubicBezTo>
                  <a:lnTo>
                    <a:pt x="28991" y="1479791"/>
                  </a:lnTo>
                  <a:cubicBezTo>
                    <a:pt x="12980" y="1479791"/>
                    <a:pt x="0" y="1466811"/>
                    <a:pt x="0" y="1450800"/>
                  </a:cubicBezTo>
                  <a:lnTo>
                    <a:pt x="0" y="28991"/>
                  </a:lnTo>
                  <a:cubicBezTo>
                    <a:pt x="0" y="12980"/>
                    <a:pt x="12980" y="0"/>
                    <a:pt x="28991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A1AEB8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586960" cy="1517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000094" y="3919681"/>
            <a:ext cx="12287811" cy="4855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7821" indent="-373911" lvl="1">
              <a:lnSpc>
                <a:spcPts val="4849"/>
              </a:lnSpc>
              <a:buFont typeface="Arial"/>
              <a:buChar char="•"/>
            </a:pPr>
            <a:r>
              <a:rPr lang="en-US" sz="3463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Recebe o grafo de cada época;</a:t>
            </a:r>
          </a:p>
          <a:p>
            <a:pPr algn="l" marL="747821" indent="-373911" lvl="1">
              <a:lnSpc>
                <a:spcPts val="4849"/>
              </a:lnSpc>
              <a:buFont typeface="Arial"/>
              <a:buChar char="•"/>
            </a:pPr>
            <a:r>
              <a:rPr lang="en-US" sz="3463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Define o termo inicial como nó raiz;</a:t>
            </a:r>
          </a:p>
          <a:p>
            <a:pPr algn="l" marL="747821" indent="-373911" lvl="1">
              <a:lnSpc>
                <a:spcPts val="4849"/>
              </a:lnSpc>
              <a:buFont typeface="Arial"/>
              <a:buChar char="•"/>
            </a:pPr>
            <a:r>
              <a:rPr lang="en-US" sz="3463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Explora os nós vizinhos por níveis;</a:t>
            </a:r>
          </a:p>
          <a:p>
            <a:pPr algn="l" marL="747821" indent="-373911" lvl="1">
              <a:lnSpc>
                <a:spcPts val="4849"/>
              </a:lnSpc>
              <a:buFont typeface="Arial"/>
              <a:buChar char="•"/>
            </a:pPr>
            <a:r>
              <a:rPr lang="en-US" sz="3463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Calcula as distâncias mínimas até os demais termos;</a:t>
            </a:r>
          </a:p>
          <a:p>
            <a:pPr algn="l" marL="747821" indent="-373911" lvl="1">
              <a:lnSpc>
                <a:spcPts val="4849"/>
              </a:lnSpc>
              <a:buFont typeface="Arial"/>
              <a:buChar char="•"/>
            </a:pPr>
            <a:r>
              <a:rPr lang="en-US" sz="3463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Gera a Árvore BFS de cada época;</a:t>
            </a:r>
          </a:p>
          <a:p>
            <a:pPr algn="l" marL="747821" indent="-373911" lvl="1">
              <a:lnSpc>
                <a:spcPts val="4849"/>
              </a:lnSpc>
              <a:buFont typeface="Arial"/>
              <a:buChar char="•"/>
            </a:pPr>
            <a:r>
              <a:rPr lang="en-US" sz="3463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Salva os resultados em /data/processed/bfs_[época].json</a:t>
            </a:r>
          </a:p>
          <a:p>
            <a:pPr algn="l">
              <a:lnSpc>
                <a:spcPts val="484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3000094" y="3208474"/>
            <a:ext cx="1228781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42597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Implementação: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79260" y="-97385"/>
            <a:ext cx="17410784" cy="1772147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88689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1564494" y="3846903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59300" y="3846903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2125273" y="7149397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3"/>
                </a:lnTo>
                <a:lnTo>
                  <a:pt x="0" y="5195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802491" y="1140421"/>
            <a:ext cx="11168805" cy="87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 b="true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Resultados da Arvore Geradora BFS 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5604808" y="-2597501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2"/>
                </a:lnTo>
                <a:lnTo>
                  <a:pt x="0" y="519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121710" y="2137302"/>
            <a:ext cx="13483098" cy="6148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1"/>
              </a:lnSpc>
            </a:pPr>
            <a:r>
              <a:rPr lang="en-US" sz="3272" b="true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Árvore BFS </a:t>
            </a:r>
            <a:r>
              <a:rPr lang="en-US" sz="3272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da palavra </a:t>
            </a:r>
            <a:r>
              <a:rPr lang="en-US" sz="3272" b="true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economia:</a:t>
            </a:r>
          </a:p>
          <a:p>
            <a:pPr algn="l" marL="706524" indent="-353262" lvl="1">
              <a:lnSpc>
                <a:spcPts val="4581"/>
              </a:lnSpc>
              <a:buFont typeface="Arial"/>
              <a:buChar char="•"/>
            </a:pPr>
            <a:r>
              <a:rPr lang="en-US" b="true" sz="32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1990 - altura: 2 Níveis</a:t>
            </a:r>
          </a:p>
          <a:p>
            <a:pPr algn="l" marL="706524" indent="-353262" lvl="1">
              <a:lnSpc>
                <a:spcPts val="4581"/>
              </a:lnSpc>
              <a:buFont typeface="Arial"/>
              <a:buChar char="•"/>
            </a:pPr>
            <a:r>
              <a:rPr lang="en-US" b="true" sz="32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2000 - altura: 2 Níveis</a:t>
            </a:r>
          </a:p>
          <a:p>
            <a:pPr algn="l" marL="706524" indent="-353262" lvl="1">
              <a:lnSpc>
                <a:spcPts val="4581"/>
              </a:lnSpc>
              <a:buFont typeface="Arial"/>
              <a:buChar char="•"/>
            </a:pPr>
            <a:r>
              <a:rPr lang="en-US" b="true" sz="32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2010 - altura: 2 Níveis</a:t>
            </a:r>
          </a:p>
          <a:p>
            <a:pPr algn="l" marL="706524" indent="-353262" lvl="1">
              <a:lnSpc>
                <a:spcPts val="4581"/>
              </a:lnSpc>
              <a:buFont typeface="Arial"/>
              <a:buChar char="•"/>
            </a:pPr>
            <a:r>
              <a:rPr lang="en-US" b="true" sz="32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2020 - altura: 3 Níveis</a:t>
            </a:r>
          </a:p>
          <a:p>
            <a:pPr algn="l">
              <a:lnSpc>
                <a:spcPts val="4301"/>
              </a:lnSpc>
            </a:pPr>
            <a:r>
              <a:rPr lang="en-US" sz="3072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A altura da árvore BFS passou de dois níveis (1990–2010) para três níveis em 2020, mostrando um aumento na complexidade das relações econômicas.</a:t>
            </a:r>
          </a:p>
          <a:p>
            <a:pPr algn="l">
              <a:lnSpc>
                <a:spcPts val="4301"/>
              </a:lnSpc>
            </a:pPr>
            <a:r>
              <a:rPr lang="en-US" sz="3072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Enquanto nos anos anteriores os impactos eram mais diretos, em 2020 a pandemia gerou mais ramificações e consequências, exigindo um nível adicional para representar seus efeitos.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79260" y="-97385"/>
            <a:ext cx="17410784" cy="1772147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262223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590925" y="1541412"/>
            <a:ext cx="1110615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Analise de resultados (BFS)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2125273" y="7149397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3"/>
                </a:lnTo>
                <a:lnTo>
                  <a:pt x="0" y="5195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604808" y="-2597501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2"/>
                </a:lnTo>
                <a:lnTo>
                  <a:pt x="0" y="519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255777" y="2993309"/>
            <a:ext cx="13619238" cy="4885930"/>
            <a:chOff x="0" y="0"/>
            <a:chExt cx="3586960" cy="12868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86960" cy="1286829"/>
            </a:xfrm>
            <a:custGeom>
              <a:avLst/>
              <a:gdLst/>
              <a:ahLst/>
              <a:cxnLst/>
              <a:rect r="r" b="b" t="t" l="l"/>
              <a:pathLst>
                <a:path h="1286829" w="3586960">
                  <a:moveTo>
                    <a:pt x="28991" y="0"/>
                  </a:moveTo>
                  <a:lnTo>
                    <a:pt x="3557968" y="0"/>
                  </a:lnTo>
                  <a:cubicBezTo>
                    <a:pt x="3573980" y="0"/>
                    <a:pt x="3586960" y="12980"/>
                    <a:pt x="3586960" y="28991"/>
                  </a:cubicBezTo>
                  <a:lnTo>
                    <a:pt x="3586960" y="1257838"/>
                  </a:lnTo>
                  <a:cubicBezTo>
                    <a:pt x="3586960" y="1273849"/>
                    <a:pt x="3573980" y="1286829"/>
                    <a:pt x="3557968" y="1286829"/>
                  </a:cubicBezTo>
                  <a:lnTo>
                    <a:pt x="28991" y="1286829"/>
                  </a:lnTo>
                  <a:cubicBezTo>
                    <a:pt x="12980" y="1286829"/>
                    <a:pt x="0" y="1273849"/>
                    <a:pt x="0" y="1257838"/>
                  </a:cubicBezTo>
                  <a:lnTo>
                    <a:pt x="0" y="28991"/>
                  </a:lnTo>
                  <a:cubicBezTo>
                    <a:pt x="0" y="12980"/>
                    <a:pt x="12980" y="0"/>
                    <a:pt x="28991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A1AEB8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586960" cy="1324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000094" y="3728546"/>
            <a:ext cx="12287811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A Busca em Largura (BFS) </a:t>
            </a:r>
            <a:r>
              <a:rPr lang="en-US" sz="35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foi utilizada para percorrer o grafo a partir do vértice "economia", organizando as palavras relacionadas em níveis de distância. Com base nos termos encontrados em cada nível, foi realizada uma análise da percepção econômica em diferentes décadas.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-1564494" y="3846903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259300" y="3846903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79260" y="-97385"/>
            <a:ext cx="17410784" cy="1772147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88689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1564494" y="3846903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59300" y="3846903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2125273" y="7149397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3"/>
                </a:lnTo>
                <a:lnTo>
                  <a:pt x="0" y="5195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802491" y="1191845"/>
            <a:ext cx="8235536" cy="87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 b="true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Analise de Resultados (BFS)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5604808" y="-2597501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2"/>
                </a:lnTo>
                <a:lnTo>
                  <a:pt x="0" y="519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106838" y="2119373"/>
            <a:ext cx="13193622" cy="691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1"/>
              </a:lnSpc>
            </a:pPr>
            <a:r>
              <a:rPr lang="en-US" sz="3272" b="true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1990:</a:t>
            </a:r>
          </a:p>
          <a:p>
            <a:pPr algn="l" marL="641756" indent="-320878" lvl="1">
              <a:lnSpc>
                <a:spcPts val="4161"/>
              </a:lnSpc>
              <a:buFont typeface="Arial"/>
              <a:buChar char="•"/>
            </a:pPr>
            <a:r>
              <a:rPr lang="en-US" b="true" sz="29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Termos próximos: </a:t>
            </a:r>
            <a:r>
              <a:rPr lang="en-US" sz="2972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"choque", "confisco" e "hiperinflação".</a:t>
            </a:r>
          </a:p>
          <a:p>
            <a:pPr algn="l" marL="641756" indent="-320878" lvl="1">
              <a:lnSpc>
                <a:spcPts val="4161"/>
              </a:lnSpc>
              <a:buFont typeface="Arial"/>
              <a:buChar char="•"/>
            </a:pPr>
            <a:r>
              <a:rPr lang="en-US" b="true" sz="29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Termos secundários: </a:t>
            </a:r>
            <a:r>
              <a:rPr lang="en-US" sz="2972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"pânico", "demissão" e "empobrecimento".</a:t>
            </a:r>
          </a:p>
          <a:p>
            <a:pPr algn="l" marL="641756" indent="-320878" lvl="1">
              <a:lnSpc>
                <a:spcPts val="4161"/>
              </a:lnSpc>
              <a:buFont typeface="Arial"/>
              <a:buChar char="•"/>
            </a:pPr>
            <a:r>
              <a:rPr lang="en-US" b="true" sz="29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Análise: </a:t>
            </a:r>
            <a:r>
              <a:rPr lang="en-US" sz="2972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Os resultados indicam uma percepção associada à crise econômica, marcada por instabilidade e perda de poder aquisitivo.</a:t>
            </a:r>
          </a:p>
          <a:p>
            <a:pPr algn="l">
              <a:lnSpc>
                <a:spcPts val="4161"/>
              </a:lnSpc>
            </a:pPr>
          </a:p>
          <a:p>
            <a:pPr algn="l">
              <a:lnSpc>
                <a:spcPts val="4581"/>
              </a:lnSpc>
            </a:pPr>
            <a:r>
              <a:rPr lang="en-US" sz="3272" b="true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2000:</a:t>
            </a:r>
          </a:p>
          <a:p>
            <a:pPr algn="l" marL="641756" indent="-320878" lvl="1">
              <a:lnSpc>
                <a:spcPts val="4161"/>
              </a:lnSpc>
              <a:buFont typeface="Arial"/>
              <a:buChar char="•"/>
            </a:pPr>
            <a:r>
              <a:rPr lang="en-US" b="true" sz="29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Termos próximos: </a:t>
            </a:r>
            <a:r>
              <a:rPr lang="en-US" sz="2972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"estabilizar" e "previsibilidade".</a:t>
            </a:r>
          </a:p>
          <a:p>
            <a:pPr algn="l" marL="641756" indent="-320878" lvl="1">
              <a:lnSpc>
                <a:spcPts val="4161"/>
              </a:lnSpc>
              <a:buFont typeface="Arial"/>
              <a:buChar char="•"/>
            </a:pPr>
            <a:r>
              <a:rPr lang="en-US" b="true" sz="29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Termos secundários: </a:t>
            </a:r>
            <a:r>
              <a:rPr lang="en-US" sz="2972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"crescimento", "expansão", "déficit" e "desemprego".</a:t>
            </a:r>
          </a:p>
          <a:p>
            <a:pPr algn="l" marL="641756" indent="-320878" lvl="1">
              <a:lnSpc>
                <a:spcPts val="4161"/>
              </a:lnSpc>
              <a:buFont typeface="Arial"/>
              <a:buChar char="•"/>
            </a:pPr>
            <a:r>
              <a:rPr lang="en-US" b="true" sz="29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Análise: </a:t>
            </a:r>
            <a:r>
              <a:rPr lang="en-US" sz="2972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Os termos sugerem um período de reorganização econômica, combinando sinais de recuperação com desafios ainda presentes.</a:t>
            </a:r>
          </a:p>
          <a:p>
            <a:pPr algn="l">
              <a:lnSpc>
                <a:spcPts val="4161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79260" y="-97385"/>
            <a:ext cx="17410784" cy="1772147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88689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1564494" y="3846903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59300" y="3846903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2125273" y="7149397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3"/>
                </a:lnTo>
                <a:lnTo>
                  <a:pt x="0" y="5195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802491" y="1140421"/>
            <a:ext cx="8236569" cy="87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 b="true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Analise de Resultados (BFS)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5604808" y="-2597501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2"/>
                </a:lnTo>
                <a:lnTo>
                  <a:pt x="0" y="519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121710" y="2137302"/>
            <a:ext cx="13193622" cy="638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1"/>
              </a:lnSpc>
            </a:pPr>
            <a:r>
              <a:rPr lang="en-US" sz="3272" b="true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2010:</a:t>
            </a:r>
          </a:p>
          <a:p>
            <a:pPr algn="l" marL="641756" indent="-320878" lvl="1">
              <a:lnSpc>
                <a:spcPts val="4161"/>
              </a:lnSpc>
              <a:buFont typeface="Arial"/>
              <a:buChar char="•"/>
            </a:pPr>
            <a:r>
              <a:rPr lang="en-US" b="true" sz="29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Termos próximos: </a:t>
            </a:r>
            <a:r>
              <a:rPr lang="en-US" sz="2972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"crescimento", "vigoroso" e "superávit".</a:t>
            </a:r>
          </a:p>
          <a:p>
            <a:pPr algn="l" marL="641756" indent="-320878" lvl="1">
              <a:lnSpc>
                <a:spcPts val="4161"/>
              </a:lnSpc>
              <a:buFont typeface="Arial"/>
              <a:buChar char="•"/>
            </a:pPr>
            <a:r>
              <a:rPr lang="en-US" b="true" sz="29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Termos secundários: </a:t>
            </a:r>
            <a:r>
              <a:rPr lang="en-US" sz="2972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"boom", "pujante" e "recorde".</a:t>
            </a:r>
          </a:p>
          <a:p>
            <a:pPr algn="l" marL="641756" indent="-320878" lvl="1">
              <a:lnSpc>
                <a:spcPts val="4161"/>
              </a:lnSpc>
              <a:buFont typeface="Arial"/>
              <a:buChar char="•"/>
            </a:pPr>
            <a:r>
              <a:rPr lang="en-US" b="true" sz="29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Análise: </a:t>
            </a:r>
            <a:r>
              <a:rPr lang="en-US" sz="2972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O período apresenta a percepção mais positiva da série, associada à expansão econômica e ao aumento da confiança.</a:t>
            </a:r>
          </a:p>
          <a:p>
            <a:pPr algn="l">
              <a:lnSpc>
                <a:spcPts val="4161"/>
              </a:lnSpc>
            </a:pPr>
          </a:p>
          <a:p>
            <a:pPr algn="l">
              <a:lnSpc>
                <a:spcPts val="4581"/>
              </a:lnSpc>
            </a:pPr>
            <a:r>
              <a:rPr lang="en-US" sz="3272" b="true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2020:</a:t>
            </a:r>
          </a:p>
          <a:p>
            <a:pPr algn="l" marL="641756" indent="-320878" lvl="1">
              <a:lnSpc>
                <a:spcPts val="4161"/>
              </a:lnSpc>
              <a:buFont typeface="Arial"/>
              <a:buChar char="•"/>
            </a:pPr>
            <a:r>
              <a:rPr lang="en-US" b="true" sz="29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Termos próximos: </a:t>
            </a:r>
            <a:r>
              <a:rPr lang="en-US" sz="2972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"retração" e "paralisação".</a:t>
            </a:r>
          </a:p>
          <a:p>
            <a:pPr algn="l" marL="641756" indent="-320878" lvl="1">
              <a:lnSpc>
                <a:spcPts val="4161"/>
              </a:lnSpc>
              <a:buFont typeface="Arial"/>
              <a:buChar char="•"/>
            </a:pPr>
            <a:r>
              <a:rPr lang="en-US" b="true" sz="29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Termos secundários: </a:t>
            </a:r>
            <a:r>
              <a:rPr lang="en-US" sz="2972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"asfixiar" e "socorrer".</a:t>
            </a:r>
          </a:p>
          <a:p>
            <a:pPr algn="l" marL="641756" indent="-320878" lvl="1">
              <a:lnSpc>
                <a:spcPts val="4161"/>
              </a:lnSpc>
              <a:buFont typeface="Arial"/>
              <a:buChar char="•"/>
            </a:pPr>
            <a:r>
              <a:rPr lang="en-US" b="true" sz="2972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Análise: </a:t>
            </a:r>
            <a:r>
              <a:rPr lang="en-US" sz="2972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Os resultados refletem os impactos da pandemia, com forte associação a dificuldades econômicas e medidas emergenciais de saúde e segurança.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79260" y="-97385"/>
            <a:ext cx="17410784" cy="1772147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262223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822008" y="1347429"/>
            <a:ext cx="848677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Aplicação do Kruskal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2125273" y="7149397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3"/>
                </a:lnTo>
                <a:lnTo>
                  <a:pt x="0" y="5195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604808" y="-2597501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2"/>
                </a:lnTo>
                <a:lnTo>
                  <a:pt x="0" y="519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255777" y="2993309"/>
            <a:ext cx="13619238" cy="5618581"/>
            <a:chOff x="0" y="0"/>
            <a:chExt cx="3586960" cy="14797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86960" cy="1479791"/>
            </a:xfrm>
            <a:custGeom>
              <a:avLst/>
              <a:gdLst/>
              <a:ahLst/>
              <a:cxnLst/>
              <a:rect r="r" b="b" t="t" l="l"/>
              <a:pathLst>
                <a:path h="1479791" w="3586960">
                  <a:moveTo>
                    <a:pt x="28991" y="0"/>
                  </a:moveTo>
                  <a:lnTo>
                    <a:pt x="3557968" y="0"/>
                  </a:lnTo>
                  <a:cubicBezTo>
                    <a:pt x="3573980" y="0"/>
                    <a:pt x="3586960" y="12980"/>
                    <a:pt x="3586960" y="28991"/>
                  </a:cubicBezTo>
                  <a:lnTo>
                    <a:pt x="3586960" y="1450800"/>
                  </a:lnTo>
                  <a:cubicBezTo>
                    <a:pt x="3586960" y="1466811"/>
                    <a:pt x="3573980" y="1479791"/>
                    <a:pt x="3557968" y="1479791"/>
                  </a:cubicBezTo>
                  <a:lnTo>
                    <a:pt x="28991" y="1479791"/>
                  </a:lnTo>
                  <a:cubicBezTo>
                    <a:pt x="12980" y="1479791"/>
                    <a:pt x="0" y="1466811"/>
                    <a:pt x="0" y="1450800"/>
                  </a:cubicBezTo>
                  <a:lnTo>
                    <a:pt x="0" y="28991"/>
                  </a:lnTo>
                  <a:cubicBezTo>
                    <a:pt x="0" y="12980"/>
                    <a:pt x="12980" y="0"/>
                    <a:pt x="28991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A1AEB8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586960" cy="1517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000094" y="3919681"/>
            <a:ext cx="12287811" cy="424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7821" indent="-373911" lvl="1">
              <a:lnSpc>
                <a:spcPts val="4849"/>
              </a:lnSpc>
              <a:buFont typeface="Arial"/>
              <a:buChar char="•"/>
            </a:pPr>
            <a:r>
              <a:rPr lang="en-US" sz="3463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Recebe os grafos de cada época;</a:t>
            </a:r>
          </a:p>
          <a:p>
            <a:pPr algn="l" marL="747821" indent="-373911" lvl="1">
              <a:lnSpc>
                <a:spcPts val="4849"/>
              </a:lnSpc>
              <a:buFont typeface="Arial"/>
              <a:buChar char="•"/>
            </a:pPr>
            <a:r>
              <a:rPr lang="en-US" sz="3463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Ordena todas as arestas por peso de forma decrescente</a:t>
            </a:r>
          </a:p>
          <a:p>
            <a:pPr algn="l" marL="747821" indent="-373911" lvl="1">
              <a:lnSpc>
                <a:spcPts val="4849"/>
              </a:lnSpc>
              <a:buFont typeface="Arial"/>
              <a:buChar char="•"/>
            </a:pPr>
            <a:r>
              <a:rPr lang="en-US" sz="3463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Usa Union-Find para selecionar arestas sem formar ciclos;</a:t>
            </a:r>
          </a:p>
          <a:p>
            <a:pPr algn="l" marL="747821" indent="-373911" lvl="1">
              <a:lnSpc>
                <a:spcPts val="4849"/>
              </a:lnSpc>
              <a:buFont typeface="Arial"/>
              <a:buChar char="•"/>
            </a:pPr>
            <a:r>
              <a:rPr lang="en-US" sz="3463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Gera a Árvore Geradora Máxima de cada época;</a:t>
            </a:r>
          </a:p>
          <a:p>
            <a:pPr algn="l" marL="747821" indent="-373911" lvl="1">
              <a:lnSpc>
                <a:spcPts val="4849"/>
              </a:lnSpc>
              <a:buFont typeface="Arial"/>
              <a:buChar char="•"/>
            </a:pPr>
            <a:r>
              <a:rPr lang="en-US" sz="3463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Salva os resultados em </a:t>
            </a:r>
            <a:r>
              <a:rPr lang="en-US" b="true" sz="3463">
                <a:solidFill>
                  <a:srgbClr val="42597A"/>
                </a:solidFill>
                <a:latin typeface="Inter Bold"/>
                <a:ea typeface="Inter Bold"/>
                <a:cs typeface="Inter Bold"/>
                <a:sym typeface="Inter Bold"/>
              </a:rPr>
              <a:t>/data/processed/kruskal_[época].json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00094" y="3208474"/>
            <a:ext cx="1228781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42597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Implementação: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442638" y="-743447"/>
            <a:ext cx="17410784" cy="1772147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262223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2125273" y="7149397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3"/>
                </a:lnTo>
                <a:lnTo>
                  <a:pt x="0" y="5195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604808" y="-2597501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2"/>
                </a:lnTo>
                <a:lnTo>
                  <a:pt x="0" y="519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123945" y="4010616"/>
            <a:ext cx="12040109" cy="2435206"/>
          </a:xfrm>
          <a:custGeom>
            <a:avLst/>
            <a:gdLst/>
            <a:ahLst/>
            <a:cxnLst/>
            <a:rect r="r" b="b" t="t" l="l"/>
            <a:pathLst>
              <a:path h="2435206" w="12040109">
                <a:moveTo>
                  <a:pt x="0" y="0"/>
                </a:moveTo>
                <a:lnTo>
                  <a:pt x="12040110" y="0"/>
                </a:lnTo>
                <a:lnTo>
                  <a:pt x="12040110" y="2435205"/>
                </a:lnTo>
                <a:lnTo>
                  <a:pt x="0" y="24352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677569" y="1347429"/>
            <a:ext cx="8932862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Resultados do Kruskal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00094" y="2922230"/>
            <a:ext cx="1228781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42597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Árvores Geradoras Máximas por Época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6863648"/>
            <a:ext cx="16230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42597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Todos os grafos formaram 1 componente conectado.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442638" y="-743447"/>
            <a:ext cx="17410784" cy="1772147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262223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2125273" y="7149397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3"/>
                </a:lnTo>
                <a:lnTo>
                  <a:pt x="0" y="5195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604808" y="-2597501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2"/>
                </a:lnTo>
                <a:lnTo>
                  <a:pt x="0" y="519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391150" y="1347429"/>
            <a:ext cx="750570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Análise do Kruskal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09972" y="2936159"/>
            <a:ext cx="8234966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2597A"/>
                </a:solidFill>
                <a:latin typeface="Open Sans"/>
                <a:ea typeface="Open Sans"/>
                <a:cs typeface="Open Sans"/>
                <a:sym typeface="Open Sans"/>
              </a:rPr>
              <a:t>Conclusões que podemos ver pelos testes: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597A"/>
                </a:solidFill>
                <a:latin typeface="Open Sans"/>
                <a:ea typeface="Open Sans"/>
                <a:cs typeface="Open Sans"/>
                <a:sym typeface="Open Sans"/>
              </a:rPr>
              <a:t>Todos os grafos são conexos devido ao número de componentes.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597A"/>
                </a:solidFill>
                <a:latin typeface="Open Sans"/>
                <a:ea typeface="Open Sans"/>
                <a:cs typeface="Open Sans"/>
                <a:sym typeface="Open Sans"/>
              </a:rPr>
              <a:t>Os peso médio indica que as conexões do grafo de 2020 são mais “valiosas”, enquanto que 1990 possui um grafo mais espalhado.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597A"/>
                </a:solidFill>
                <a:latin typeface="Open Sans"/>
                <a:ea typeface="Open Sans"/>
                <a:cs typeface="Open Sans"/>
                <a:sym typeface="Open Sans"/>
              </a:rPr>
              <a:t>O crescimento do peso médio com o passar das decadas indica aumento na ligação do contéudo.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85930" y="2936159"/>
            <a:ext cx="7367747" cy="306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42597A"/>
                </a:solidFill>
                <a:latin typeface="Open Sans"/>
                <a:ea typeface="Open Sans"/>
                <a:cs typeface="Open Sans"/>
                <a:sym typeface="Open Sans"/>
              </a:rPr>
              <a:t>Peso médio dos componentes: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42597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2020: </a:t>
            </a:r>
            <a:r>
              <a:rPr lang="en-US" sz="3499">
                <a:solidFill>
                  <a:srgbClr val="42597A"/>
                </a:solidFill>
                <a:latin typeface="Open Sans"/>
                <a:ea typeface="Open Sans"/>
                <a:cs typeface="Open Sans"/>
                <a:sym typeface="Open Sans"/>
              </a:rPr>
              <a:t>1222/526 = </a:t>
            </a:r>
            <a:r>
              <a:rPr lang="en-US" b="true" sz="3499">
                <a:solidFill>
                  <a:srgbClr val="1322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2,32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42597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2010:</a:t>
            </a:r>
            <a:r>
              <a:rPr lang="en-US" sz="3499">
                <a:solidFill>
                  <a:srgbClr val="42597A"/>
                </a:solidFill>
                <a:latin typeface="Open Sans"/>
                <a:ea typeface="Open Sans"/>
                <a:cs typeface="Open Sans"/>
                <a:sym typeface="Open Sans"/>
              </a:rPr>
              <a:t> 1080/486 = </a:t>
            </a:r>
            <a:r>
              <a:rPr lang="en-US" b="true" sz="3499">
                <a:solidFill>
                  <a:srgbClr val="1322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2,22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42597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2000:</a:t>
            </a:r>
            <a:r>
              <a:rPr lang="en-US" sz="3499">
                <a:solidFill>
                  <a:srgbClr val="42597A"/>
                </a:solidFill>
                <a:latin typeface="Open Sans"/>
                <a:ea typeface="Open Sans"/>
                <a:cs typeface="Open Sans"/>
                <a:sym typeface="Open Sans"/>
              </a:rPr>
              <a:t> 939/448 = </a:t>
            </a:r>
            <a:r>
              <a:rPr lang="en-US" b="true" sz="3499">
                <a:solidFill>
                  <a:srgbClr val="1322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2,10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42597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1990:</a:t>
            </a:r>
            <a:r>
              <a:rPr lang="en-US" sz="3499">
                <a:solidFill>
                  <a:srgbClr val="42597A"/>
                </a:solidFill>
                <a:latin typeface="Open Sans"/>
                <a:ea typeface="Open Sans"/>
                <a:cs typeface="Open Sans"/>
                <a:sym typeface="Open Sans"/>
              </a:rPr>
              <a:t> 1120/541 = </a:t>
            </a:r>
            <a:r>
              <a:rPr lang="en-US" b="true" sz="3499">
                <a:solidFill>
                  <a:srgbClr val="1322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2,07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79260" y="-97385"/>
            <a:ext cx="17410784" cy="1772147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1008271">
            <a:off x="-2125273" y="7149397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3"/>
                </a:lnTo>
                <a:lnTo>
                  <a:pt x="0" y="5195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604808" y="-2597501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2"/>
                </a:lnTo>
                <a:lnTo>
                  <a:pt x="0" y="519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377324" y="3894031"/>
            <a:ext cx="4990042" cy="4717858"/>
          </a:xfrm>
          <a:custGeom>
            <a:avLst/>
            <a:gdLst/>
            <a:ahLst/>
            <a:cxnLst/>
            <a:rect r="r" b="b" t="t" l="l"/>
            <a:pathLst>
              <a:path h="4717858" w="4990042">
                <a:moveTo>
                  <a:pt x="0" y="0"/>
                </a:moveTo>
                <a:lnTo>
                  <a:pt x="4990042" y="0"/>
                </a:lnTo>
                <a:lnTo>
                  <a:pt x="4990042" y="4717859"/>
                </a:lnTo>
                <a:lnTo>
                  <a:pt x="0" y="4717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802491" y="1777088"/>
            <a:ext cx="3876675" cy="99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Conclusões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68852" y="3313641"/>
            <a:ext cx="9310524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Os grupos apresentaram resultados semelhantes, porém progressivos ao longo das épocas.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A temática econômica influenciou os resultados devido ao uso recorrente de termos predefinidos na área e à clara evolução pela qual o setor passou com o decorrer dos anos.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2597A"/>
                </a:solidFill>
                <a:latin typeface="Inter"/>
                <a:ea typeface="Inter"/>
                <a:cs typeface="Inter"/>
                <a:sym typeface="Inter"/>
              </a:rPr>
              <a:t>Apesar disso, os assuntos representados nos grafos mostram-se variados.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79260" y="-97385"/>
            <a:ext cx="17410784" cy="1772147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0487" y="1028700"/>
            <a:ext cx="2492978" cy="1964609"/>
            <a:chOff x="0" y="0"/>
            <a:chExt cx="656587" cy="517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6475" y="8611890"/>
            <a:ext cx="17414205" cy="1772495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88783" y="7293691"/>
            <a:ext cx="2492978" cy="1964609"/>
            <a:chOff x="0" y="0"/>
            <a:chExt cx="656587" cy="517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6587" cy="517428"/>
            </a:xfrm>
            <a:custGeom>
              <a:avLst/>
              <a:gdLst/>
              <a:ahLst/>
              <a:cxnLst/>
              <a:rect r="r" b="b" t="t" l="l"/>
              <a:pathLst>
                <a:path h="517428" w="656587">
                  <a:moveTo>
                    <a:pt x="158380" y="0"/>
                  </a:moveTo>
                  <a:lnTo>
                    <a:pt x="498207" y="0"/>
                  </a:lnTo>
                  <a:cubicBezTo>
                    <a:pt x="540212" y="0"/>
                    <a:pt x="580496" y="16686"/>
                    <a:pt x="610198" y="46388"/>
                  </a:cubicBezTo>
                  <a:cubicBezTo>
                    <a:pt x="639900" y="76090"/>
                    <a:pt x="656587" y="116375"/>
                    <a:pt x="656587" y="158380"/>
                  </a:cubicBezTo>
                  <a:lnTo>
                    <a:pt x="656587" y="359048"/>
                  </a:lnTo>
                  <a:cubicBezTo>
                    <a:pt x="656587" y="401053"/>
                    <a:pt x="639900" y="441337"/>
                    <a:pt x="610198" y="471039"/>
                  </a:cubicBezTo>
                  <a:cubicBezTo>
                    <a:pt x="580496" y="500741"/>
                    <a:pt x="540212" y="517428"/>
                    <a:pt x="498207" y="517428"/>
                  </a:cubicBezTo>
                  <a:lnTo>
                    <a:pt x="158380" y="517428"/>
                  </a:lnTo>
                  <a:cubicBezTo>
                    <a:pt x="116375" y="517428"/>
                    <a:pt x="76090" y="500741"/>
                    <a:pt x="46388" y="471039"/>
                  </a:cubicBezTo>
                  <a:cubicBezTo>
                    <a:pt x="16686" y="441337"/>
                    <a:pt x="0" y="401053"/>
                    <a:pt x="0" y="359048"/>
                  </a:cubicBezTo>
                  <a:lnTo>
                    <a:pt x="0" y="158380"/>
                  </a:lnTo>
                  <a:cubicBezTo>
                    <a:pt x="0" y="116375"/>
                    <a:pt x="16686" y="76090"/>
                    <a:pt x="46388" y="46388"/>
                  </a:cubicBezTo>
                  <a:cubicBezTo>
                    <a:pt x="76090" y="16686"/>
                    <a:pt x="116375" y="0"/>
                    <a:pt x="15838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6587" cy="5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88689"/>
            <a:ext cx="16230600" cy="8229600"/>
            <a:chOff x="0" y="0"/>
            <a:chExt cx="4274726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1564494" y="3846903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59300" y="3846903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2125273" y="7149397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3"/>
                </a:lnTo>
                <a:lnTo>
                  <a:pt x="0" y="5195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121710" y="1333393"/>
            <a:ext cx="3927316" cy="87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 b="true">
                <a:solidFill>
                  <a:srgbClr val="13223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Uso de LLMs 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5604808" y="-2597501"/>
            <a:ext cx="5366384" cy="5195003"/>
          </a:xfrm>
          <a:custGeom>
            <a:avLst/>
            <a:gdLst/>
            <a:ahLst/>
            <a:cxnLst/>
            <a:rect r="r" b="b" t="t" l="l"/>
            <a:pathLst>
              <a:path h="5195003" w="5366384">
                <a:moveTo>
                  <a:pt x="0" y="0"/>
                </a:moveTo>
                <a:lnTo>
                  <a:pt x="5366384" y="0"/>
                </a:lnTo>
                <a:lnTo>
                  <a:pt x="5366384" y="5195002"/>
                </a:lnTo>
                <a:lnTo>
                  <a:pt x="0" y="519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548826" y="2703983"/>
            <a:ext cx="13193622" cy="574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1756" indent="-320878" lvl="1">
              <a:lnSpc>
                <a:spcPts val="4161"/>
              </a:lnSpc>
              <a:buFont typeface="Arial"/>
              <a:buChar char="•"/>
            </a:pPr>
            <a:r>
              <a:rPr lang="en-US" b="true" sz="2972">
                <a:solidFill>
                  <a:srgbClr val="4259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Geração de Dados Fictícios: </a:t>
            </a:r>
            <a:r>
              <a:rPr lang="en-US" sz="2972">
                <a:solidFill>
                  <a:srgbClr val="42597A"/>
                </a:solidFill>
                <a:latin typeface="Canva Sans"/>
                <a:ea typeface="Canva Sans"/>
                <a:cs typeface="Canva Sans"/>
                <a:sym typeface="Canva Sans"/>
              </a:rPr>
              <a:t>Uso do Google Gemini para criar artigos de economia brasileira (1990-2020).</a:t>
            </a:r>
          </a:p>
          <a:p>
            <a:pPr algn="l" marL="1283511" indent="-427837" lvl="2">
              <a:lnSpc>
                <a:spcPts val="4161"/>
              </a:lnSpc>
              <a:buFont typeface="Arial"/>
              <a:buChar char="⚬"/>
            </a:pPr>
            <a:r>
              <a:rPr lang="en-US" b="true" sz="2972">
                <a:solidFill>
                  <a:srgbClr val="4259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Controle de Viés: </a:t>
            </a:r>
            <a:r>
              <a:rPr lang="en-US" sz="2972">
                <a:solidFill>
                  <a:srgbClr val="42597A"/>
                </a:solidFill>
                <a:latin typeface="Canva Sans"/>
                <a:ea typeface="Canva Sans"/>
                <a:cs typeface="Canva Sans"/>
                <a:sym typeface="Canva Sans"/>
              </a:rPr>
              <a:t>Os títulos foram omitidos para evitar algum tipo de viés nos dados.</a:t>
            </a:r>
          </a:p>
          <a:p>
            <a:pPr algn="l" marL="1283511" indent="-427837" lvl="2">
              <a:lnSpc>
                <a:spcPts val="4161"/>
              </a:lnSpc>
              <a:buFont typeface="Arial"/>
              <a:buChar char="⚬"/>
            </a:pPr>
            <a:r>
              <a:rPr lang="en-US" b="true" sz="2972">
                <a:solidFill>
                  <a:srgbClr val="4259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Consistência Cronológica: </a:t>
            </a:r>
            <a:r>
              <a:rPr lang="en-US" sz="2972">
                <a:solidFill>
                  <a:srgbClr val="42597A"/>
                </a:solidFill>
                <a:latin typeface="Canva Sans"/>
                <a:ea typeface="Canva Sans"/>
                <a:cs typeface="Canva Sans"/>
                <a:sym typeface="Canva Sans"/>
              </a:rPr>
              <a:t>Prompts demandaram preservação do vocabulário, a gramática e o contexto socioeconômico de  cada década.</a:t>
            </a:r>
          </a:p>
          <a:p>
            <a:pPr algn="l" marL="641756" indent="-320878" lvl="1">
              <a:lnSpc>
                <a:spcPts val="4161"/>
              </a:lnSpc>
              <a:buFont typeface="Arial"/>
              <a:buChar char="•"/>
            </a:pPr>
            <a:r>
              <a:rPr lang="en-US" b="true" sz="2972">
                <a:solidFill>
                  <a:srgbClr val="4259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Auxilio no Código:</a:t>
            </a:r>
            <a:r>
              <a:rPr lang="en-US" sz="2972">
                <a:solidFill>
                  <a:srgbClr val="42597A"/>
                </a:solidFill>
                <a:latin typeface="Canva Sans"/>
                <a:ea typeface="Canva Sans"/>
                <a:cs typeface="Canva Sans"/>
                <a:sym typeface="Canva Sans"/>
              </a:rPr>
              <a:t> Foi utilizado LLMs como forma de auxilio na construção de alguns código e algoritmos.</a:t>
            </a:r>
          </a:p>
          <a:p>
            <a:pPr algn="l" marL="641756" indent="-320878" lvl="1">
              <a:lnSpc>
                <a:spcPts val="4161"/>
              </a:lnSpc>
              <a:buFont typeface="Arial"/>
              <a:buChar char="•"/>
            </a:pPr>
            <a:r>
              <a:rPr lang="en-US" b="true" sz="2972">
                <a:solidFill>
                  <a:srgbClr val="4259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Ferramenta de Pesquisa:</a:t>
            </a:r>
            <a:r>
              <a:rPr lang="en-US" sz="2972">
                <a:solidFill>
                  <a:srgbClr val="42597A"/>
                </a:solidFill>
                <a:latin typeface="Canva Sans"/>
                <a:ea typeface="Canva Sans"/>
                <a:cs typeface="Canva Sans"/>
                <a:sym typeface="Canva Sans"/>
              </a:rPr>
              <a:t> Tirar dividas sobre o conteúdo sendo aplicado.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53921" y="-97385"/>
            <a:ext cx="18816759" cy="1915253"/>
            <a:chOff x="0" y="0"/>
            <a:chExt cx="399275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59100" y="1028700"/>
            <a:ext cx="3022661" cy="2354902"/>
            <a:chOff x="0" y="0"/>
            <a:chExt cx="796092" cy="620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6092" cy="620221"/>
            </a:xfrm>
            <a:custGeom>
              <a:avLst/>
              <a:gdLst/>
              <a:ahLst/>
              <a:cxnLst/>
              <a:rect r="r" b="b" t="t" l="l"/>
              <a:pathLst>
                <a:path h="620221" w="796092">
                  <a:moveTo>
                    <a:pt x="130626" y="0"/>
                  </a:moveTo>
                  <a:lnTo>
                    <a:pt x="665466" y="0"/>
                  </a:lnTo>
                  <a:cubicBezTo>
                    <a:pt x="700110" y="0"/>
                    <a:pt x="733335" y="13762"/>
                    <a:pt x="757832" y="38259"/>
                  </a:cubicBezTo>
                  <a:cubicBezTo>
                    <a:pt x="782329" y="62757"/>
                    <a:pt x="796092" y="95982"/>
                    <a:pt x="796092" y="130626"/>
                  </a:cubicBezTo>
                  <a:lnTo>
                    <a:pt x="796092" y="489595"/>
                  </a:lnTo>
                  <a:cubicBezTo>
                    <a:pt x="796092" y="524239"/>
                    <a:pt x="782329" y="557464"/>
                    <a:pt x="757832" y="581962"/>
                  </a:cubicBezTo>
                  <a:cubicBezTo>
                    <a:pt x="733335" y="606459"/>
                    <a:pt x="700110" y="620221"/>
                    <a:pt x="665466" y="620221"/>
                  </a:cubicBezTo>
                  <a:lnTo>
                    <a:pt x="130626" y="620221"/>
                  </a:lnTo>
                  <a:cubicBezTo>
                    <a:pt x="95982" y="620221"/>
                    <a:pt x="62757" y="606459"/>
                    <a:pt x="38259" y="581962"/>
                  </a:cubicBezTo>
                  <a:cubicBezTo>
                    <a:pt x="13762" y="557464"/>
                    <a:pt x="0" y="524239"/>
                    <a:pt x="0" y="489595"/>
                  </a:cubicBezTo>
                  <a:lnTo>
                    <a:pt x="0" y="130626"/>
                  </a:lnTo>
                  <a:cubicBezTo>
                    <a:pt x="0" y="95982"/>
                    <a:pt x="13762" y="62757"/>
                    <a:pt x="38259" y="38259"/>
                  </a:cubicBezTo>
                  <a:cubicBezTo>
                    <a:pt x="62757" y="13762"/>
                    <a:pt x="95982" y="0"/>
                    <a:pt x="130626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96092" cy="658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1982680" y="8469131"/>
            <a:ext cx="18816759" cy="1915253"/>
            <a:chOff x="0" y="0"/>
            <a:chExt cx="39927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2752" cy="406400"/>
            </a:xfrm>
            <a:custGeom>
              <a:avLst/>
              <a:gdLst/>
              <a:ahLst/>
              <a:cxnLst/>
              <a:rect r="r" b="b" t="t" l="l"/>
              <a:pathLst>
                <a:path h="406400" w="3992752">
                  <a:moveTo>
                    <a:pt x="3789552" y="0"/>
                  </a:moveTo>
                  <a:cubicBezTo>
                    <a:pt x="3901776" y="0"/>
                    <a:pt x="3992752" y="90976"/>
                    <a:pt x="3992752" y="203200"/>
                  </a:cubicBezTo>
                  <a:cubicBezTo>
                    <a:pt x="3992752" y="315424"/>
                    <a:pt x="3901776" y="406400"/>
                    <a:pt x="3789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1AE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92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93761" y="6903398"/>
            <a:ext cx="3022661" cy="2354902"/>
            <a:chOff x="0" y="0"/>
            <a:chExt cx="796092" cy="6202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6092" cy="620221"/>
            </a:xfrm>
            <a:custGeom>
              <a:avLst/>
              <a:gdLst/>
              <a:ahLst/>
              <a:cxnLst/>
              <a:rect r="r" b="b" t="t" l="l"/>
              <a:pathLst>
                <a:path h="620221" w="796092">
                  <a:moveTo>
                    <a:pt x="130626" y="0"/>
                  </a:moveTo>
                  <a:lnTo>
                    <a:pt x="665466" y="0"/>
                  </a:lnTo>
                  <a:cubicBezTo>
                    <a:pt x="700110" y="0"/>
                    <a:pt x="733335" y="13762"/>
                    <a:pt x="757832" y="38259"/>
                  </a:cubicBezTo>
                  <a:cubicBezTo>
                    <a:pt x="782329" y="62757"/>
                    <a:pt x="796092" y="95982"/>
                    <a:pt x="796092" y="130626"/>
                  </a:cubicBezTo>
                  <a:lnTo>
                    <a:pt x="796092" y="489595"/>
                  </a:lnTo>
                  <a:cubicBezTo>
                    <a:pt x="796092" y="524239"/>
                    <a:pt x="782329" y="557464"/>
                    <a:pt x="757832" y="581962"/>
                  </a:cubicBezTo>
                  <a:cubicBezTo>
                    <a:pt x="733335" y="606459"/>
                    <a:pt x="700110" y="620221"/>
                    <a:pt x="665466" y="620221"/>
                  </a:cubicBezTo>
                  <a:lnTo>
                    <a:pt x="130626" y="620221"/>
                  </a:lnTo>
                  <a:cubicBezTo>
                    <a:pt x="95982" y="620221"/>
                    <a:pt x="62757" y="606459"/>
                    <a:pt x="38259" y="581962"/>
                  </a:cubicBezTo>
                  <a:cubicBezTo>
                    <a:pt x="13762" y="557464"/>
                    <a:pt x="0" y="524239"/>
                    <a:pt x="0" y="489595"/>
                  </a:cubicBezTo>
                  <a:lnTo>
                    <a:pt x="0" y="130626"/>
                  </a:lnTo>
                  <a:cubicBezTo>
                    <a:pt x="0" y="95982"/>
                    <a:pt x="13762" y="62757"/>
                    <a:pt x="38259" y="38259"/>
                  </a:cubicBezTo>
                  <a:cubicBezTo>
                    <a:pt x="62757" y="13762"/>
                    <a:pt x="95982" y="0"/>
                    <a:pt x="130626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96092" cy="658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694806" y="7693806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0"/>
            <a:ext cx="2593194" cy="2593194"/>
          </a:xfrm>
          <a:custGeom>
            <a:avLst/>
            <a:gdLst/>
            <a:ahLst/>
            <a:cxnLst/>
            <a:rect r="r" b="b" t="t" l="l"/>
            <a:pathLst>
              <a:path h="2593194" w="2593194">
                <a:moveTo>
                  <a:pt x="0" y="0"/>
                </a:moveTo>
                <a:lnTo>
                  <a:pt x="2593194" y="0"/>
                </a:lnTo>
                <a:lnTo>
                  <a:pt x="2593194" y="2593194"/>
                </a:lnTo>
                <a:lnTo>
                  <a:pt x="0" y="259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2836285" y="8006161"/>
            <a:ext cx="1915253" cy="2841194"/>
          </a:xfrm>
          <a:custGeom>
            <a:avLst/>
            <a:gdLst/>
            <a:ahLst/>
            <a:cxnLst/>
            <a:rect r="r" b="b" t="t" l="l"/>
            <a:pathLst>
              <a:path h="2841194" w="1915253">
                <a:moveTo>
                  <a:pt x="0" y="0"/>
                </a:moveTo>
                <a:lnTo>
                  <a:pt x="1915253" y="0"/>
                </a:lnTo>
                <a:lnTo>
                  <a:pt x="1915253" y="2841194"/>
                </a:lnTo>
                <a:lnTo>
                  <a:pt x="0" y="2841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-5400000">
            <a:off x="3536462" y="-560355"/>
            <a:ext cx="1915253" cy="2841194"/>
          </a:xfrm>
          <a:custGeom>
            <a:avLst/>
            <a:gdLst/>
            <a:ahLst/>
            <a:cxnLst/>
            <a:rect r="r" b="b" t="t" l="l"/>
            <a:pathLst>
              <a:path h="2841194" w="1915253">
                <a:moveTo>
                  <a:pt x="0" y="2841194"/>
                </a:moveTo>
                <a:lnTo>
                  <a:pt x="1915253" y="2841194"/>
                </a:lnTo>
                <a:lnTo>
                  <a:pt x="1915253" y="0"/>
                </a:lnTo>
                <a:lnTo>
                  <a:pt x="0" y="0"/>
                </a:lnTo>
                <a:lnTo>
                  <a:pt x="0" y="284119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061741" y="3773805"/>
            <a:ext cx="9839053" cy="246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A1AEB8"/>
                </a:solidFill>
                <a:latin typeface="Proxima Nova"/>
                <a:ea typeface="Proxima Nova"/>
                <a:cs typeface="Proxima Nova"/>
                <a:sym typeface="Proxima Nova"/>
              </a:rPr>
              <a:t>OBRIGADO!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-3708874" y="3383602"/>
            <a:ext cx="7417748" cy="3708874"/>
            <a:chOff x="0" y="0"/>
            <a:chExt cx="8128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253662" y="3289063"/>
            <a:ext cx="7417748" cy="3708874"/>
            <a:chOff x="0" y="0"/>
            <a:chExt cx="8128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3223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DAHMu-QoFyk</dc:identifier>
  <dcterms:modified xsi:type="dcterms:W3CDTF">2011-08-01T06:04:30Z</dcterms:modified>
  <cp:revision>1</cp:revision>
  <dc:title>Slides de Apresentação</dc:title>
</cp:coreProperties>
</file>